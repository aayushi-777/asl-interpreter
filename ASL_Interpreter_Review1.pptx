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Calibri"/>
              </a:rPr>
              <a:t>Target Performance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0B5D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Letter
Accuracy</c:v>
                </c:pt>
                <c:pt idx="1">
                  <c:v>Word
Accuracy</c:v>
                </c:pt>
                <c:pt idx="2">
                  <c:v>Frame
Rate (FPS)</c:v>
                </c:pt>
                <c:pt idx="3">
                  <c:v>Latency
(x10 ms)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E-48EC-93C7-280B70BE3B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6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88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32620" y="4366260"/>
            <a:ext cx="617220" cy="48006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 flipV="1">
            <a:off x="9258300" y="3749040"/>
            <a:ext cx="274320" cy="61722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9052560" y="3268980"/>
            <a:ext cx="205740" cy="48006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9875520" y="4091940"/>
            <a:ext cx="274320" cy="75438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9806940" y="3337560"/>
            <a:ext cx="68580" cy="75438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38360" y="2788920"/>
            <a:ext cx="68580" cy="54864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149840" y="3989070"/>
            <a:ext cx="34290" cy="85725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184130" y="3200400"/>
            <a:ext cx="914" cy="78867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84130" y="2651760"/>
            <a:ext cx="914" cy="54864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149840" y="4057650"/>
            <a:ext cx="342900" cy="78867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492740" y="3337560"/>
            <a:ext cx="68580" cy="72009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61320" y="2857500"/>
            <a:ext cx="68580" cy="48006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149840" y="4229100"/>
            <a:ext cx="651510" cy="61722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801350" y="3680460"/>
            <a:ext cx="137160" cy="54864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938510" y="3268980"/>
            <a:ext cx="102870" cy="411480"/>
          </a:xfrm>
          <a:prstGeom prst="line">
            <a:avLst/>
          </a:prstGeom>
          <a:noFill/>
          <a:ln w="19050">
            <a:solidFill>
              <a:srgbClr val="4ECDC4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18979" y="481545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501759" y="433539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227439" y="371817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1699" y="323811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44659" y="406107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76079" y="330669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07499" y="275805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153269" y="395820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153269" y="316953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53269" y="262089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61879" y="402678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30459" y="330669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599039" y="282663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770489" y="419823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907649" y="364959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10519" y="3238119"/>
            <a:ext cx="61722" cy="61722"/>
          </a:xfrm>
          <a:prstGeom prst="ellipse">
            <a:avLst/>
          </a:prstGeom>
          <a:solidFill>
            <a:srgbClr val="4ECDC4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flipH="1" flipV="1">
            <a:off x="10840212" y="2391156"/>
            <a:ext cx="452628" cy="35204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639044" y="1938528"/>
            <a:ext cx="201168" cy="45262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488168" y="1586484"/>
            <a:ext cx="150876" cy="35204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1091672" y="2189988"/>
            <a:ext cx="201168" cy="553212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1041380" y="1636776"/>
            <a:ext cx="50292" cy="553212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991088" y="1234440"/>
            <a:ext cx="50292" cy="402336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1292840" y="2114550"/>
            <a:ext cx="25146" cy="628650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1317986" y="1536192"/>
            <a:ext cx="914" cy="57835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1317986" y="1133856"/>
            <a:ext cx="914" cy="402336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1292840" y="2164842"/>
            <a:ext cx="251460" cy="57835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1544300" y="1636776"/>
            <a:ext cx="50292" cy="528066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1594592" y="1284732"/>
            <a:ext cx="50292" cy="35204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1292840" y="2290572"/>
            <a:ext cx="477774" cy="45262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1770614" y="1888236"/>
            <a:ext cx="100584" cy="402336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1871198" y="1586484"/>
            <a:ext cx="75438" cy="301752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70209" y="2720569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817581" y="2368525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616413" y="1915897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465537" y="1563853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069041" y="2167357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018749" y="1614145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968457" y="1211809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295355" y="2091919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95355" y="1513561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295355" y="1111225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21669" y="2142211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571961" y="1614145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622253" y="1262101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747983" y="2267941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848567" y="1865605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924005" y="1563853"/>
            <a:ext cx="45263" cy="45263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flipH="1" flipV="1">
            <a:off x="8682228" y="1632204"/>
            <a:ext cx="370332" cy="288036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8517636" y="1261872"/>
            <a:ext cx="164592" cy="370332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8394192" y="973836"/>
            <a:ext cx="123444" cy="288036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8887968" y="1467612"/>
            <a:ext cx="164592" cy="452628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8846820" y="1014984"/>
            <a:ext cx="41148" cy="452628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8805672" y="685800"/>
            <a:ext cx="41148" cy="329184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9052560" y="1405890"/>
            <a:ext cx="20574" cy="514350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9073134" y="932688"/>
            <a:ext cx="914" cy="473202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9073134" y="603504"/>
            <a:ext cx="914" cy="329184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9052560" y="1447038"/>
            <a:ext cx="205740" cy="473202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9258300" y="1014984"/>
            <a:ext cx="41148" cy="432054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9299448" y="726948"/>
            <a:ext cx="41148" cy="288036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9052560" y="1549908"/>
            <a:ext cx="390906" cy="370332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443466" y="1220724"/>
            <a:ext cx="82296" cy="329184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9525762" y="973836"/>
            <a:ext cx="61722" cy="246888"/>
          </a:xfrm>
          <a:prstGeom prst="line">
            <a:avLst/>
          </a:prstGeom>
          <a:noFill/>
          <a:ln w="1905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34043" y="1901723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663711" y="1613687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499119" y="1243355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375675" y="955319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869451" y="1449095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828303" y="996467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787155" y="667283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054617" y="1387373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9054617" y="914171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9054617" y="584987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9239783" y="1428521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9280931" y="996467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322079" y="708431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9424949" y="1531391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507245" y="1202207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568967" y="955319"/>
            <a:ext cx="37033" cy="37033"/>
          </a:xfrm>
          <a:prstGeom prst="ellipse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I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94360" y="178308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ASL Interpreter Using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Image Detection</a:t>
            </a:r>
            <a:endParaRPr lang="en-US" sz="4400" dirty="0"/>
          </a:p>
        </p:txBody>
      </p:sp>
      <p:sp>
        <p:nvSpPr>
          <p:cNvPr id="97" name="Text 95"/>
          <p:cNvSpPr/>
          <p:nvPr/>
        </p:nvSpPr>
        <p:spPr>
          <a:xfrm>
            <a:off x="640080" y="3703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recognition of conversational American Sign Language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 and deep learning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640080" y="461772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008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· Student B · Student C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40080" y="5193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/ Prof. Guide Name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640080" y="55412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64008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Bridging the Communication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5117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 million people worldwide are deaf or hard of hearing and rely on sign language as a primary mode of communication.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7648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276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interpreter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255117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sign-language interpreters are scarce, expensive, and not available on demand — creating friction in daily conversations.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8770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is visual &amp; spatial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5137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conveys meaning through hand shape, motion, orientation, and facial expression — well suited to camera-based sensing.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7648" y="3950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8770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with AI + Vision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15137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real-time hand tracking (e.g., landmark detection) and deep learning make automated interpretation practical today.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 flipV="1">
            <a:off x="11192256" y="5870448"/>
            <a:ext cx="329184" cy="256032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1045952" y="5541264"/>
            <a:ext cx="146304" cy="329184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936224" y="5285232"/>
            <a:ext cx="109728" cy="256032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1375136" y="5724144"/>
            <a:ext cx="146304" cy="402336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1338560" y="5321808"/>
            <a:ext cx="36576" cy="402336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1301984" y="5029200"/>
            <a:ext cx="36576" cy="292608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1521440" y="5669280"/>
            <a:ext cx="18288" cy="457200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1539728" y="5248656"/>
            <a:ext cx="914" cy="420624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1539728" y="4956048"/>
            <a:ext cx="914" cy="292608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1521440" y="5705856"/>
            <a:ext cx="182880" cy="420624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1704320" y="5321808"/>
            <a:ext cx="36576" cy="384048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1740896" y="5065776"/>
            <a:ext cx="36576" cy="256032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1521440" y="5797296"/>
            <a:ext cx="347472" cy="329184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11868912" y="5504688"/>
            <a:ext cx="73152" cy="292608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1942064" y="5285232"/>
            <a:ext cx="54864" cy="219456"/>
          </a:xfrm>
          <a:prstGeom prst="line">
            <a:avLst/>
          </a:prstGeom>
          <a:noFill/>
          <a:ln w="190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04981" y="6110021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175797" y="5853989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029493" y="5524805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919765" y="5268773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358677" y="5707685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322101" y="5305349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85525" y="5012741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523269" y="5652821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523269" y="5232197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523269" y="4939589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687861" y="5689397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724437" y="5305349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761013" y="5049317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852453" y="5780837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925605" y="5488229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980469" y="5268773"/>
            <a:ext cx="32918" cy="32918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Gap We Are Addressing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0" cy="3566160"/>
          </a:xfrm>
          <a:prstGeom prst="roundRect">
            <a:avLst>
              <a:gd name="adj" fmla="val 2564"/>
            </a:avLst>
          </a:prstGeom>
          <a:solidFill>
            <a:srgbClr val="0B5D7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5623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develop a vision-based system that can detect a signer's hand(s) from a live camera feed, recognise commonly used conversational American Sign Language gestures, and translate them into readable text (and speech) in real time — without requiring any wearable sensors or gloves.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2295144"/>
            <a:ext cx="109728" cy="10972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7571232" y="218541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pose &amp; orientation vary widely between signers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2935224"/>
            <a:ext cx="109728" cy="10972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7571232" y="28254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is required (low latency)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3575304"/>
            <a:ext cx="109728" cy="10972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7571232" y="34655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gestures are easily confused (e.g., M vs 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4215384"/>
            <a:ext cx="109728" cy="10972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571232" y="410565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clutter &amp; lighting affect detection accuracy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4855464"/>
            <a:ext cx="109728" cy="10972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7571232" y="474573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conversational signing is harder than static signs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Project Aims to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523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hand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live video and localise hand(s) and finger landmarks accurately under varied backgrounds and lighting.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7523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3044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 defined vocabulary of ASL alphabets, digits, and common conversational words/phrases.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7523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speech output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0184" y="304495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recognised sign sequence into on-screen text and synthesised speech for two-way communication.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2861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low-cost system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22122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using only a standard webcam — no gloves or special sensors — on a normal laptop/PC.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414223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53712" y="492861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accuracy &amp; speed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22122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90% classification accuracy at real-time frame rates (≥ 15 FPS) on the test set.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414223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0184" y="492861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pipeline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0184" y="522122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 pipeline that can later be extended to more signs, continuous sentences, and other sign languages.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Related Work Reviewed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Pigou et al. (2015)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on depth + RGB video (Kinect)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 gesture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depth sensor; not pure RGB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Garcia &amp; Viesca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transfer learning (GoogLeNet)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ASL alphabet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letters only, no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Kang et al. (2015)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Depth-based CNN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ASL depth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Hardware-dependent, small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/ Zhang et al.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Landmark-based hand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hand-pose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only, no gesture semantics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Rastgoo et al. (2021, survey)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vision-based SLR methods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public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gap in continuous signing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most prior work targets isolated static letters or requires special hardware (depth/gloves). This project focuses on a pure-RGB, real-time pipeline for common conversational signs.</a:t>
            </a:r>
            <a:endParaRPr lang="en-US" sz="1150" dirty="0"/>
          </a:p>
        </p:txBody>
      </p:sp>
      <p:sp>
        <p:nvSpPr>
          <p:cNvPr id="4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Current Approaches &amp; Their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1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Glove-Based Systems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1518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4871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gloves capture finger flex &amp; orientation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9242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2644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for isolated signs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16966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4041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intrusive, not scalable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1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18288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Depth-Camera 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07992" y="261518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4871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Kinect / depth sensors for hand shape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07992" y="339242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32644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lighting to some extent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07992" y="416966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4041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 hardware; costly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1584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1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101584" y="182880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284464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Image Classifiers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84464" y="261518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4871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trained on isolated letter images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84464" y="3392424"/>
            <a:ext cx="91440" cy="914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2644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alphabet recognition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416966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041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motion-based or dynamic signs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none of these deliver a low-cost, real-time, RGB-only interpreter tuned for everyday conversational vocabulary — the space this project targets.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0B5D7A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feed, frame extraction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3153766"/>
            <a:ext cx="128016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14016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23744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23744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normalise, background handling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51376" y="3153766"/>
            <a:ext cx="128016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9392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0B5D7A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 (21 key points/hand)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16752" y="3153766"/>
            <a:ext cx="128016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44768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+ motion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82128" y="3153766"/>
            <a:ext cx="128016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10144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0B5D7A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19872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19872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19872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 model inference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47504" y="3153766"/>
            <a:ext cx="128016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246888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4ECDC4"/>
          </a:solidFill>
          <a:ln/>
          <a:effectLst>
            <a:outerShdw blurRad="635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85248" y="2542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85248" y="2880360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Speech 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85248" y="338328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E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text, text-to-speech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follows a classic computer-vision + deep-learning flow: frames are captured, cleaned, and reduced to hand landmarks; a trained classifier maps the resulting features to the closest known sign; the result is rendered as text and read aloud.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 flipV="1">
            <a:off x="10352837" y="5766206"/>
            <a:ext cx="345643" cy="26883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199218" y="5420563"/>
            <a:ext cx="153619" cy="345643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84003" y="5151730"/>
            <a:ext cx="115214" cy="26883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544861" y="5612587"/>
            <a:ext cx="153619" cy="422453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506456" y="5190134"/>
            <a:ext cx="38405" cy="422453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0468051" y="4882896"/>
            <a:ext cx="38405" cy="30723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0698480" y="5554980"/>
            <a:ext cx="19202" cy="480060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0717682" y="5113325"/>
            <a:ext cx="914" cy="441655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717682" y="4806086"/>
            <a:ext cx="914" cy="30723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0698480" y="5593385"/>
            <a:ext cx="192024" cy="441655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890504" y="5190134"/>
            <a:ext cx="38405" cy="403250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928909" y="4921301"/>
            <a:ext cx="38405" cy="268834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698480" y="5689397"/>
            <a:ext cx="364846" cy="345643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1063326" y="5382158"/>
            <a:ext cx="76810" cy="307238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1140135" y="5151730"/>
            <a:ext cx="57607" cy="230429"/>
          </a:xfrm>
          <a:prstGeom prst="line">
            <a:avLst/>
          </a:prstGeom>
          <a:noFill/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81198" y="6017758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335555" y="5748924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181935" y="5403281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066721" y="5134447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527579" y="5595305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489174" y="5172852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450769" y="4865614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700400" y="5537698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700400" y="5096043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700400" y="4788804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873222" y="5576103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911627" y="5172852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950031" y="4904019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046043" y="5672115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122853" y="5364876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180460" y="5134447"/>
            <a:ext cx="34564" cy="34564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High-Level Block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0B5D7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56816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video stream, frame-by-frame capture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17520" y="2423160"/>
            <a:ext cx="320040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956816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02152" y="228600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colour normalisation, ROI cropping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2423160"/>
            <a:ext cx="320040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0B5D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1956816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1072" y="257860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hand skeleton per detected hand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95360" y="2423160"/>
            <a:ext cx="320040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1540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079992" y="1956816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79992" y="257860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CNN / LSTM model predicts the sign class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49840" y="3017520"/>
            <a:ext cx="914" cy="3657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49640" y="338328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0B5D7A"/>
          </a:solidFill>
          <a:ln/>
        </p:spPr>
      </p:sp>
      <p:sp>
        <p:nvSpPr>
          <p:cNvPr id="21" name="Text 19"/>
          <p:cNvSpPr/>
          <p:nvPr/>
        </p:nvSpPr>
        <p:spPr>
          <a:xfrm>
            <a:off x="8714232" y="351129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14232" y="3840480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thresholding, temporal smoothing across frames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320040" cy="914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33832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5285232" y="3511296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Speech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85232" y="4133088"/>
            <a:ext cx="2734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E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caption + text-to-speech playback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25596" y="48920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4196" y="4892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Training: 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25796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dataset → augmentation → model training &amp; validation → exported weights used by the classifier above.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Tools, Libraries &amp; Frameworks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0B5D7A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D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VS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626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4114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augmentation tools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0B5D7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09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2009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D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&amp; LSTM architectures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for evaluation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3554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355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35440" y="3017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Tkinter GUI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35440" y="4114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(text-to-speech)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35440" y="4526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reporting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Source &amp; Composition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1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780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5000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ASL Alphabet dataset (Kaggle) — static letter images (A–Z, space, delete, nothing)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34670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1868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Custom-recorded conversational gesture clips (common words: hello, thank you, yes, no, please, help, etc.)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2153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8736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rotation, flipping, brightness/contrast jitter, background variation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training · 15% validation · 15% testing, with subject-wise separation to avoid leakage.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182880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0B5D7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938528"/>
            <a:ext cx="15544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1938528"/>
            <a:ext cx="2468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classes (A–Z static signs)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3127248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0B5D7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3236976"/>
            <a:ext cx="15544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06840" y="3236976"/>
            <a:ext cx="2468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signs targeted (hello, thank you, yes, no, help…)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78040" y="4425696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0B5D7A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4535424"/>
            <a:ext cx="15544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5,000+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06840" y="4535424"/>
            <a:ext cx="2468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frames after augmentation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Breaking Down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751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Data Acquisition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3591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frames from webcam; handles frame rate control and buffering for smooth downstream processing.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751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Preprocessing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frames, isolates the region of interest around the hand(s), and reduces noise/lighting variance.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75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Landmark Detection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hand-tracking model to extract 21 key points per hand describing finger and palm position.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429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575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Feature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9593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landmarks into scale/rotation-invariant features (distances, angles) fed to the classifier.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755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Gesture Classification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5595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CNN/LSTM model maps features to the most probable sign class with a confidence score.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5029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51755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Output Generation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55595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predictions across frames, then renders text captions and speaks the result via text-to-speech.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Review II Should Demonstrate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035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49440" y="22402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2240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21671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that recognises ASL alphabet + a defined conversational vocabulary in real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0920" y="30815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with quantitative accuracy/precision/recall reported on held-out test data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40690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4069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39959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webcam → predicted sign → on-screen text → spoken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4983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60920" y="49103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dataset, code repository, and evaluation report for Review II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Timeline Across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914" cy="3858768"/>
          </a:xfrm>
          <a:prstGeom prst="line">
            <a:avLst/>
          </a:prstGeom>
          <a:noFill/>
          <a:ln w="25400">
            <a:solidFill>
              <a:srgbClr val="D6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865376"/>
            <a:ext cx="201168" cy="201168"/>
          </a:xfrm>
          <a:prstGeom prst="ellipse">
            <a:avLst/>
          </a:prstGeom>
          <a:solidFill>
            <a:srgbClr val="4ECD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37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problem definition, tool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170992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1709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2376" y="2523744"/>
            <a:ext cx="201168" cy="201168"/>
          </a:xfrm>
          <a:prstGeom prst="ellipse">
            <a:avLst/>
          </a:prstGeom>
          <a:solidFill>
            <a:srgbClr val="4ECD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3957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preprocessing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236829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B5D7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503920" y="23682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" y="3182112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0540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 &amp; landmark extraction module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3026664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0266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– Review 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" y="3840480"/>
            <a:ext cx="201168" cy="201168"/>
          </a:xfrm>
          <a:prstGeom prst="ellipse">
            <a:avLst/>
          </a:prstGeom>
          <a:solidFill>
            <a:srgbClr val="C7D2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7124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(CNN/LSTM) &amp; 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368503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6850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— Review II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" y="4498848"/>
            <a:ext cx="201168" cy="201168"/>
          </a:xfrm>
          <a:prstGeom prst="ellipse">
            <a:avLst/>
          </a:prstGeom>
          <a:solidFill>
            <a:srgbClr val="C7D2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3708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integration, GUI &amp; speech output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3434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— Review II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2376" y="5157216"/>
            <a:ext cx="201168" cy="201168"/>
          </a:xfrm>
          <a:prstGeom prst="ellipse">
            <a:avLst/>
          </a:prstGeom>
          <a:solidFill>
            <a:srgbClr val="C7D2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029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evaluation &amp; final report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500176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1F6F8"/>
          </a:solidFill>
          <a:ln w="12700">
            <a:solidFill>
              <a:srgbClr val="D6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— Review III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7415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Interpreter · Review 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Selected Bibliography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Pigou, S. Dieleman, P. Kindermans, and B. Schrauwen, "Sign Language Recognition Using Convolutional Neural Networks," ECCV Workshops, 2015.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4048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4048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Garcia and S. A. Viesca, "Real-time American Sign Language Recognition with Convolutional Neural Networks," Stanford CS231n Report, 2016.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302666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Kang, S. Tripathi, and T. Q. Nguyen, "Real-time Sign Language Fingerspelling Recognition using Convolutional Neural Networks from Depth Map," ACPR, 2015.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484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6484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 Team, "MediaPipe Hands: On-device Real-time Hand Tracking," 2020.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2702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42702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Rastgoo, K. Kiani, and S. Escalera, "Sign Language Recognition: A Deep Survey," Expert Systems with Applications, 2021.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892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"ASL Alphabet Dataset," https://www.kaggle.com/datasets/grassknoted/asl-alphabet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10469880" y="5715000"/>
            <a:ext cx="411480" cy="32004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10287000" y="5303520"/>
            <a:ext cx="182880" cy="41148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10149840" y="4983480"/>
            <a:ext cx="137160" cy="32004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10698480" y="5532120"/>
            <a:ext cx="182880" cy="50292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10652760" y="5029200"/>
            <a:ext cx="45720" cy="50292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10607040" y="4663440"/>
            <a:ext cx="45720" cy="36576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881360" y="5463540"/>
            <a:ext cx="22860" cy="57150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904220" y="4937760"/>
            <a:ext cx="914" cy="52578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904220" y="4572000"/>
            <a:ext cx="914" cy="36576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881360" y="5509260"/>
            <a:ext cx="228600" cy="52578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1109960" y="5029200"/>
            <a:ext cx="45720" cy="48006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1155680" y="4709160"/>
            <a:ext cx="45720" cy="32004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881360" y="5623560"/>
            <a:ext cx="434340" cy="41148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1315700" y="5257800"/>
            <a:ext cx="91440" cy="36576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1407140" y="4983480"/>
            <a:ext cx="68580" cy="274320"/>
          </a:xfrm>
          <a:prstGeom prst="line">
            <a:avLst/>
          </a:prstGeom>
          <a:noFill/>
          <a:ln w="1905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0786" y="601446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449306" y="569442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266426" y="528294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29266" y="496290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677906" y="551154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632186" y="500862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586466" y="464286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883646" y="544296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83646" y="491718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883646" y="455142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089386" y="548868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135106" y="500862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180826" y="468858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295126" y="560298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386566" y="523722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455146" y="4962906"/>
            <a:ext cx="41148" cy="4114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EC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Office PowerPoint</Application>
  <PresentationFormat>Widescreen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Aayushi Vinod</cp:lastModifiedBy>
  <cp:revision>2</cp:revision>
  <dcterms:created xsi:type="dcterms:W3CDTF">2026-08-25T05:06:37Z</dcterms:created>
  <dcterms:modified xsi:type="dcterms:W3CDTF">2026-08-25T06:41:20Z</dcterms:modified>
</cp:coreProperties>
</file>